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f6b89dd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f6b89dd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cf6b89dd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cf6b89dd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f6b89dd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f6b89dd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3db1281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3db128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3db1281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3db1281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d3db1281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d3db1281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3db12814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d3db1281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3db1281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d3db1281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cf6b89dd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cf6b89dd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177cbfe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d177cbfe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d177cbfe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d177cbfe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177cbfe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d177cbfe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177cbfe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d177cbfe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177cbfe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177cbfe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d177cbfe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d177cbfe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d177cbfe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d177cbfe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d177cbfe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d177cbfe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cf6b89dd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cf6b89dd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3db128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d3db128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d3db1281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d3db1281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cf6b89dd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cf6b89dd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d177cbf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d177cbf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77cbfe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d177cbfe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d177cbf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d177cbf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d177cbfe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d177cbf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d177cbf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d177cbf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d177cbf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d177cbf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cf6b89dd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cf6b89dd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cf6b89dd1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cf6b89dd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cf6b89dd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cf6b89dd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cf6b89dd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cf6b89dd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cf6b89dd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cf6b89dd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d177cbf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d177cbf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cf6b89dd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cf6b89dd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d177cbfe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d177cbf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d177cbfe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d177cbfe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d177cbfe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d177cbfe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Relationship Id="rId4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jp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32.png"/><Relationship Id="rId5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Relationship Id="rId4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41994"/>
            <a:ext cx="8520600" cy="2052600"/>
          </a:xfrm>
          <a:prstGeom prst="rect">
            <a:avLst/>
          </a:prstGeom>
          <a:solidFill>
            <a:srgbClr val="990000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80">
                <a:latin typeface="Times New Roman"/>
                <a:ea typeface="Times New Roman"/>
                <a:cs typeface="Times New Roman"/>
                <a:sym typeface="Times New Roman"/>
              </a:rPr>
              <a:t>Resolución Numérica de la Ecuación de Calor en 2D Análisis Matemático y Computacional</a:t>
            </a:r>
            <a:endParaRPr sz="40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34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 Astúa Badilla - C30826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Isadora Sandrine Carrion Claeys - C31710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Sofía Núñez Jara - C4H992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Montserrat Solano Chinchilla - C37603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¿Qué se busca resolver ?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2047550"/>
            <a:ext cx="85206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Ecuación de calor en dos dimensiones </a:t>
            </a: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(EDP, lineal, parabólica)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condición inicial y de fronteras 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fuente de calor 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42485" r="0" t="0"/>
          <a:stretch/>
        </p:blipFill>
        <p:spPr>
          <a:xfrm>
            <a:off x="4657942" y="1155825"/>
            <a:ext cx="4174357" cy="864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9272" l="0" r="0" t="0"/>
          <a:stretch/>
        </p:blipFill>
        <p:spPr>
          <a:xfrm>
            <a:off x="311700" y="1155825"/>
            <a:ext cx="4408185" cy="864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88" y="4181313"/>
            <a:ext cx="17049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9608" y="3020150"/>
            <a:ext cx="5684776" cy="10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6649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ideales :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 fuentes de energía externas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Capacidad calórica uniforme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Aislamiento perfecto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¿Cuáles condiciones se utilizaron?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92718"/>
            <a:ext cx="8520601" cy="1053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Metodología General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253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implementa: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Discretización espacial mediante diferencias finitas.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Discretización temporal mediante el método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implícito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de frontera: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Dirichlet homogéneo, Dirichlet constante y Neumann.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la resolución del sistema lineal se aplican 2 métodos: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aplicación de librería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mediante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spsolve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método iterativo Gauss-Seidel (implementando su variante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Red–Black Gauss–Seidel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Espacial: Diferencias finitas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dominio rectangular [0, a] × [0, b] se divide en N × N nodos interiores con N + 1 intervalos uniformes, excluyendo las fronteras.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813" y="1973138"/>
            <a:ext cx="2851550" cy="7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939" y="2338053"/>
            <a:ext cx="4168305" cy="370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2811913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aquí se logran obtener: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988" y="1994490"/>
            <a:ext cx="4292204" cy="31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200" y="3407917"/>
            <a:ext cx="2851550" cy="81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675" y="3218725"/>
            <a:ext cx="3052473" cy="10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36075" y="4413400"/>
            <a:ext cx="3589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71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Derivada temporal (diferencia hacia adelante)</a:t>
            </a:r>
            <a:endParaRPr sz="1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013" y="4413400"/>
            <a:ext cx="3589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Derivadas espaciales (diferencias centradas)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temporal: Euler implícito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sustituyen las aproximaciones en la ecuación de calor: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2521063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agrupar términos para las incógnitas se obtiene la ecuación discreta local: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50" y="1694025"/>
            <a:ext cx="5133225" cy="6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6215700" y="1814475"/>
            <a:ext cx="1233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875" y="1731528"/>
            <a:ext cx="7636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087513"/>
            <a:ext cx="56483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6102031" y="3246075"/>
            <a:ext cx="1233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225" y="3118300"/>
            <a:ext cx="1898066" cy="6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4105048"/>
            <a:ext cx="85206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realizar esta discretización se termina obteniendo el sistema lineal:                             donde </a:t>
            </a:r>
            <a:r>
              <a:rPr i="1"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  la matriz dispersa asociada al Laplaciano 2D proveniente del paso temporal.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8369" y="4105055"/>
            <a:ext cx="1141525" cy="35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de las condiciones de frontera: Dirichlet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Partiendo de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25" y="1655913"/>
            <a:ext cx="56483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356625" y="2697675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Asumiendo que estamos en borde izquierdo (esto es i₀,ⱼ) y asumiendo u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₀,ⱼ = g, se obtiene: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6900" y="3422325"/>
            <a:ext cx="54102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3991275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vector del lado derecho depende de tₙ y del factor 𝝻ₓg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resultado es el mismo para el borde derecho, y para los bordes verticales cambia a 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𝝻ᵧg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2302124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Despejando u(-1 , j):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de las condiciones de frontera: Neumann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442225" y="1456524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                        se hace la 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aproximación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por diferencias centrales: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000" y="1350299"/>
            <a:ext cx="1087875" cy="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600" y="1350299"/>
            <a:ext cx="2626025" cy="6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12" y="2806287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Desarrollamos para la frontera izquierda: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2387" y="2319799"/>
            <a:ext cx="23145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47812" y="3310449"/>
            <a:ext cx="6506900" cy="4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12" y="3866862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coeficiente de los vecinos se duplica y al lado derecho aparece un ± 2hₓg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𝝻ₓ. El signo depende de la dirección del vector normal del borde. El resultado para bordes verticales es ± 2hᵧg𝝻ᵧ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Metodologia Python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2089913"/>
            <a:ext cx="4300200" cy="17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implementó el uso de matrices dispersas.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construye la matriz A y el vector b en base a las condiciones de frontera.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resuelve el sistema con spsolve.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250" y="1780800"/>
            <a:ext cx="382905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674600" y="1601575"/>
            <a:ext cx="40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¿Qué </a:t>
            </a: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librerías</a:t>
            </a: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usaron ?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851" y="2403601"/>
            <a:ext cx="3898250" cy="12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529500" y="1601575"/>
            <a:ext cx="40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 que se buscó hacer…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 mediante POO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Animación para ver evolución en el tiempo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850" y="2403600"/>
            <a:ext cx="4042501" cy="1401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190725" y="1017725"/>
            <a:ext cx="85701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HeatEquation2D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En init : Parámetros para resolución matemática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63" y="1919850"/>
            <a:ext cx="7731274" cy="31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190725" y="1017725"/>
            <a:ext cx="85701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En init 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Condiciones de frontera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50" y="1961177"/>
            <a:ext cx="7131675" cy="24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45025"/>
            <a:ext cx="4641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190725" y="1017725"/>
            <a:ext cx="4641600" cy="38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MatrizLaplaciano(self)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Diagonal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Vecinos en x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Vecinos en y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50" y="129262"/>
            <a:ext cx="3870825" cy="48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190725" y="1017725"/>
            <a:ext cx="50298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 VectorRHS(self, tn, u_prev)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dedujo que: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izquierdo Neumann:  b = uⁿ - 2μx·hx·g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derecho Neumann:    b = uⁿ + 2μx·hx·g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inferior Neumann:   b = uⁿ - 2μy·hy·g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superior Neumann:   b = uⁿ + 2μy·hy·g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Dirichlet:                b = uⁿ + μ·g</a:t>
            </a:r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525" y="1062925"/>
            <a:ext cx="3873925" cy="403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190725" y="1017725"/>
            <a:ext cx="87510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HeatEquation2D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5. solve(self, u0_func, save_every=1)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00" y="2240188"/>
            <a:ext cx="35814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450" y="1963963"/>
            <a:ext cx="39433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190725" y="101772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Funciones auxiliares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iniciales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analyze_min_max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seleccionar_condicion_inicial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solicitar_condiciones_frontera</a:t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25" y="1189650"/>
            <a:ext cx="4477450" cy="1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200" y="2903613"/>
            <a:ext cx="53721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 rot="851280">
            <a:off x="2928698" y="1171421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 rot="851280">
            <a:off x="2529848" y="286364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196500" y="93217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crear la 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Times New Roman"/>
              <a:buChar char="➢"/>
            </a:pPr>
            <a:r>
              <a:rPr lang="fr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crear_animacion(soluciones, tiempos, titulo, condiciones_frontera, intervalo=500)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13" y="2032088"/>
            <a:ext cx="47148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775" y="1818650"/>
            <a:ext cx="5025000" cy="12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207" name="Google Shape;207;p30"/>
          <p:cNvSpPr txBox="1"/>
          <p:nvPr>
            <p:ph idx="1" type="body"/>
          </p:nvPr>
        </p:nvSpPr>
        <p:spPr>
          <a:xfrm>
            <a:off x="196500" y="93217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crear la 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Times New Roman"/>
              <a:buChar char="➢"/>
            </a:pPr>
            <a:r>
              <a:rPr lang="fr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crear_animacion(soluciones, tiempos, titulo, condiciones_frontera, intervalo=500)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del dominio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inicial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de frontera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Resolución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500" y="1840050"/>
            <a:ext cx="5025000" cy="12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en Python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440575" y="1110300"/>
            <a:ext cx="5229000" cy="3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Configuración del solver:</a:t>
            </a:r>
            <a:endParaRPr b="1"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250 (puntos interiores por dimensión)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 = 500 (pasos de tiempo)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hx = 0.003984 (paso espacial en x)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hy = 0.003984 (paso espacial en y)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 = 0.001300 (paso temporal)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μx = 81.901300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μy = 81.901300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Tamaño del sistema: 62500 × 62500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de frontera:</a:t>
            </a:r>
            <a:endParaRPr b="1"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left: neumann = -1.0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right: dirichlet = 0.0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bottom: dirichlet = 0.0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top: neumann = 3.0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31" title="animacion.gif"/>
          <p:cNvPicPr preferRelativeResize="0"/>
          <p:nvPr/>
        </p:nvPicPr>
        <p:blipFill rotWithShape="1">
          <a:blip r:embed="rId3">
            <a:alphaModFix/>
          </a:blip>
          <a:srcRect b="5185" l="15855" r="18601" t="9534"/>
          <a:stretch/>
        </p:blipFill>
        <p:spPr>
          <a:xfrm>
            <a:off x="5417600" y="1194650"/>
            <a:ext cx="3414699" cy="33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Metodología C++: Gauss–Seidel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medio de un esquema iterativo punto a punto actualiza la ecuación local: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 las cantidades marcadas con (∗) usan los últimos valores disponibles después de cada iteración.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método: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 si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simétrica definida positiva o diagonalmente dominante.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Posee una velocidad que depende del número de condición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κ(A)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38" y="1695044"/>
            <a:ext cx="5419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Red–Black Gauss–Seidel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3"/>
          <p:cNvSpPr txBox="1"/>
          <p:nvPr>
            <p:ph idx="1" type="body"/>
          </p:nvPr>
        </p:nvSpPr>
        <p:spPr>
          <a:xfrm>
            <a:off x="311700" y="1291850"/>
            <a:ext cx="5443500" cy="31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una partición del grafo de malla en dos conjuntos tipo tablero de ajedrez: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rojo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(i + j) par                 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negro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(i + j) impar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actualizan los nodos rojos usando valores negros antiguos, luego los negros usando valores rojos nuevos.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 acelera la convergencia respecto al Gauss-Seidel estándar al reducir dependencias inmediatas entre nodos vecinos.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9" name="Google Shape;229;p33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633" l="3063" r="68753" t="7179"/>
          <a:stretch/>
        </p:blipFill>
        <p:spPr>
          <a:xfrm>
            <a:off x="6075975" y="1490650"/>
            <a:ext cx="2577100" cy="253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311700" y="1017725"/>
            <a:ext cx="85206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EcuacionesCalor2D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Parámetros para resolución matemática</a:t>
            </a:r>
            <a:b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58886" l="0" r="0" t="0"/>
          <a:stretch/>
        </p:blipFill>
        <p:spPr>
          <a:xfrm>
            <a:off x="119375" y="2367531"/>
            <a:ext cx="8905251" cy="194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11700" y="1017725"/>
            <a:ext cx="85206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Condiciones de fronteras</a:t>
            </a:r>
            <a:r>
              <a:rPr lang="fr"/>
              <a:t> </a:t>
            </a:r>
            <a:br>
              <a:rPr lang="fr"/>
            </a:br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12487" t="41114"/>
          <a:stretch/>
        </p:blipFill>
        <p:spPr>
          <a:xfrm>
            <a:off x="311700" y="1886300"/>
            <a:ext cx="8370699" cy="29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01772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Constructor: discretización espacial, paso temporal, coeficientes lambda, vectores coordenadas </a:t>
            </a:r>
            <a:endParaRPr/>
          </a:p>
        </p:txBody>
      </p:sp>
      <p:pic>
        <p:nvPicPr>
          <p:cNvPr id="250" name="Google Shape;250;p36"/>
          <p:cNvPicPr preferRelativeResize="0"/>
          <p:nvPr/>
        </p:nvPicPr>
        <p:blipFill rotWithShape="1">
          <a:blip r:embed="rId3">
            <a:alphaModFix/>
          </a:blip>
          <a:srcRect b="6219" l="2852" r="29547" t="33745"/>
          <a:stretch/>
        </p:blipFill>
        <p:spPr>
          <a:xfrm>
            <a:off x="1795875" y="1886300"/>
            <a:ext cx="6065875" cy="320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pic>
        <p:nvPicPr>
          <p:cNvPr id="257" name="Google Shape;257;p37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982" l="35440" r="36376" t="6829"/>
          <a:stretch/>
        </p:blipFill>
        <p:spPr>
          <a:xfrm>
            <a:off x="6075975" y="1490650"/>
            <a:ext cx="2577100" cy="253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17725"/>
            <a:ext cx="62670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Método Red-Black Gauss-Seidel : solver </a:t>
            </a:r>
            <a:endParaRPr/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4">
            <a:alphaModFix/>
          </a:blip>
          <a:srcRect b="35165" l="0" r="33346" t="1277"/>
          <a:stretch/>
        </p:blipFill>
        <p:spPr>
          <a:xfrm>
            <a:off x="77025" y="2142950"/>
            <a:ext cx="5998949" cy="27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65" name="Google Shape;265;p38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pic>
        <p:nvPicPr>
          <p:cNvPr id="266" name="Google Shape;266;p38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982" l="35440" r="36376" t="6829"/>
          <a:stretch/>
        </p:blipFill>
        <p:spPr>
          <a:xfrm>
            <a:off x="6413250" y="1593513"/>
            <a:ext cx="2577100" cy="253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/>
          <p:nvPr>
            <p:ph idx="1" type="body"/>
          </p:nvPr>
        </p:nvSpPr>
        <p:spPr>
          <a:xfrm>
            <a:off x="311700" y="1017725"/>
            <a:ext cx="65022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Método Red-Black Gauss-Seidel : solver </a:t>
            </a:r>
            <a:endParaRPr/>
          </a:p>
        </p:txBody>
      </p:sp>
      <p:pic>
        <p:nvPicPr>
          <p:cNvPr id="268" name="Google Shape;26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538" y="1905000"/>
            <a:ext cx="56292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9" y="3401599"/>
            <a:ext cx="6351400" cy="15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311700" y="1017725"/>
            <a:ext cx="8148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Método solve: construye la condición inicial evaluando sobre la malla interior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recoge paso de tiempo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 al solver iterativo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guarda snapshots para visualización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7" name="Google Shape;2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475" y="3316525"/>
            <a:ext cx="45053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83" name="Google Shape;283;p40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109075" y="1017725"/>
            <a:ext cx="3817500" cy="3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Funciones auxiliares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iniciales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analizar los mínimos y máximos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pedir un número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main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875" y="2275275"/>
            <a:ext cx="52578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9838" y="1103813"/>
            <a:ext cx="566737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0"/>
          <p:cNvSpPr/>
          <p:nvPr/>
        </p:nvSpPr>
        <p:spPr>
          <a:xfrm rot="851280">
            <a:off x="2676848" y="121419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40"/>
          <p:cNvSpPr/>
          <p:nvPr/>
        </p:nvSpPr>
        <p:spPr>
          <a:xfrm rot="851280">
            <a:off x="3107273" y="211174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C++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1"/>
          <p:cNvSpPr txBox="1"/>
          <p:nvPr>
            <p:ph idx="1" type="body"/>
          </p:nvPr>
        </p:nvSpPr>
        <p:spPr>
          <a:xfrm>
            <a:off x="4429175" y="1017725"/>
            <a:ext cx="4630200" cy="4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Seleccione condición inicial: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Distribución Gaussiana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Anillo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Diagonal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 Forma de 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Cuatro Esquinas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Opción: 1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Distribución Gaussiana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Ejecutando con N=50, M=500, T=0.4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Tiempo: 1.81 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Tiempo      Tmax         Tmin         Rango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0.0000      19.8087       0.0000       19.8087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0.4000      0.0018         0.0000       0.0018</a:t>
            </a:r>
            <a:endParaRPr sz="2100"/>
          </a:p>
        </p:txBody>
      </p:sp>
      <p:sp>
        <p:nvSpPr>
          <p:cNvPr id="295" name="Google Shape;295;p41"/>
          <p:cNvSpPr txBox="1"/>
          <p:nvPr/>
        </p:nvSpPr>
        <p:spPr>
          <a:xfrm>
            <a:off x="110700" y="1628525"/>
            <a:ext cx="4461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Simulación Ecuación de Calor 2D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físicos y numéricos: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1, b = 1, c = 1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50, M = 500, T = 0.4, saveEvery = 2000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Seleccione condición de frontera: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Dirichlet con u=0 en los bordes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Dirichlet con temperatura fija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Neumann (aislada)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Opción: 1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Estrategia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de Paralelización C++</a:t>
            </a:r>
            <a:endParaRPr/>
          </a:p>
        </p:txBody>
      </p:sp>
      <p:sp>
        <p:nvSpPr>
          <p:cNvPr id="301" name="Google Shape;301;p42"/>
          <p:cNvSpPr txBox="1"/>
          <p:nvPr>
            <p:ph idx="1" type="body"/>
          </p:nvPr>
        </p:nvSpPr>
        <p:spPr>
          <a:xfrm>
            <a:off x="311700" y="1152475"/>
            <a:ext cx="8520600" cy="3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Problemas :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Gauss-Seidel : cada punto depende de sus vecinos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Malla N x N : muy grande, cuello de botella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principales : </a:t>
            </a:r>
            <a:endParaRPr sz="19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b="1"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Red-Black Gauss-Seidel</a:t>
            </a: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red: índices (i+j) pares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black: índices (i+j) impares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b="1"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Tiling </a:t>
            </a: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(Bloques)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42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806" l="67848" r="4553" t="8407"/>
          <a:stretch/>
        </p:blipFill>
        <p:spPr>
          <a:xfrm>
            <a:off x="6065275" y="1522750"/>
            <a:ext cx="2523624" cy="249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Paralelización C++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Paralelización Red-Black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8" y="3766088"/>
            <a:ext cx="37242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21524"/>
            <a:ext cx="4569591" cy="1312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571750"/>
            <a:ext cx="7003575" cy="2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Paralelización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C++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4"/>
          <p:cNvSpPr txBox="1"/>
          <p:nvPr>
            <p:ph idx="1" type="body"/>
          </p:nvPr>
        </p:nvSpPr>
        <p:spPr>
          <a:xfrm>
            <a:off x="226150" y="1103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Bloques (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tiling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00" y="1730525"/>
            <a:ext cx="5176126" cy="12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7" y="3500997"/>
            <a:ext cx="6674501" cy="15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Paralelización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C++</a:t>
            </a:r>
            <a:endParaRPr/>
          </a:p>
        </p:txBody>
      </p:sp>
      <p:sp>
        <p:nvSpPr>
          <p:cNvPr id="325" name="Google Shape;325;p45"/>
          <p:cNvSpPr txBox="1"/>
          <p:nvPr>
            <p:ph idx="1" type="body"/>
          </p:nvPr>
        </p:nvSpPr>
        <p:spPr>
          <a:xfrm>
            <a:off x="3424000" y="1127075"/>
            <a:ext cx="5408400" cy="3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con… 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físicos y numéricos: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1, b = 1, c = 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250, M = 8000, T = 0.4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de frontera: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Dirichlet con u=0 en los bordes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inicial: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Distribución Gaussiana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5"/>
          <p:cNvSpPr txBox="1"/>
          <p:nvPr/>
        </p:nvSpPr>
        <p:spPr>
          <a:xfrm>
            <a:off x="172700" y="1017725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Hilos   Tiempo del test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	820.46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		460.65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		371.43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		328.14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		309.12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		294.48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		271.75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		235.58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		227.19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		219,96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		207.27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		202.15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		239.96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Paralelización C++</a:t>
            </a:r>
            <a:endParaRPr/>
          </a:p>
        </p:txBody>
      </p:sp>
      <p:sp>
        <p:nvSpPr>
          <p:cNvPr id="332" name="Google Shape;332;p46"/>
          <p:cNvSpPr txBox="1"/>
          <p:nvPr/>
        </p:nvSpPr>
        <p:spPr>
          <a:xfrm>
            <a:off x="172700" y="1017725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Hilos   Tiempo del test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	820.46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		460.65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		371.43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		328.14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		309.12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		294.48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		271.75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		235.58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		227.19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		219.96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		207.27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		202.15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		239.96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225" y="1138988"/>
            <a:ext cx="457567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Bibliografía</a:t>
            </a:r>
            <a:endParaRPr/>
          </a:p>
        </p:txBody>
      </p:sp>
      <p:sp>
        <p:nvSpPr>
          <p:cNvPr id="339" name="Google Shape;339;p47"/>
          <p:cNvSpPr txBox="1"/>
          <p:nvPr>
            <p:ph idx="1" type="body"/>
          </p:nvPr>
        </p:nvSpPr>
        <p:spPr>
          <a:xfrm>
            <a:off x="268925" y="1163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Saad, Y. (2003).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methods for sparse linear systems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(2nd ed.). Society for Industrial and Applied Mathematics.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MIT. (s.f.).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6.338J / 18.366J: Parallel scientific computing.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Massachusetts Institute of Technology.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Disponible en: https://ocw.mit.edu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LeVeque, R. J. (2007).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difference methods for ordinary and partial differential equations: Steady-state and time-dependent problems.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Society for Industrial and Applied Mathematics.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Brunet, P., &amp; Van Hentenryck, P. (2012). Red-black ordering and parallel graph coloring strategies for PDE solvers.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INFORMS Journal on Computing, 24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(3), 435–451.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Sequeira-Chavarría, F., &amp; Ramírez-Bogantes, M. (2019). Aspectos computacionales del método de diferencias finitas para la ecuación de calor dependiente del tiempo.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Uniciencia, 33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1–22.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type="title"/>
          </p:nvPr>
        </p:nvSpPr>
        <p:spPr>
          <a:xfrm>
            <a:off x="311700" y="445025"/>
            <a:ext cx="40962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sp>
        <p:nvSpPr>
          <p:cNvPr id="345" name="Google Shape;345;p48"/>
          <p:cNvSpPr txBox="1"/>
          <p:nvPr/>
        </p:nvSpPr>
        <p:spPr>
          <a:xfrm>
            <a:off x="87700" y="1073600"/>
            <a:ext cx="4705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condiciones iniciales en Python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6" name="Google Shape;3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75" y="1493000"/>
            <a:ext cx="3464100" cy="35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925" y="903250"/>
            <a:ext cx="3814676" cy="4162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8"/>
          <p:cNvSpPr txBox="1"/>
          <p:nvPr/>
        </p:nvSpPr>
        <p:spPr>
          <a:xfrm>
            <a:off x="4792888" y="445025"/>
            <a:ext cx="4705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seleccionar condición inicial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pic>
        <p:nvPicPr>
          <p:cNvPr id="354" name="Google Shape;35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00" y="1662025"/>
            <a:ext cx="6391275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9"/>
          <p:cNvSpPr txBox="1"/>
          <p:nvPr/>
        </p:nvSpPr>
        <p:spPr>
          <a:xfrm>
            <a:off x="280175" y="1073600"/>
            <a:ext cx="704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pedir número en C++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sp>
        <p:nvSpPr>
          <p:cNvPr id="361" name="Google Shape;361;p50"/>
          <p:cNvSpPr txBox="1"/>
          <p:nvPr/>
        </p:nvSpPr>
        <p:spPr>
          <a:xfrm>
            <a:off x="280175" y="1073600"/>
            <a:ext cx="704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Porción f</a:t>
            </a: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unción main en C++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588" y="1436100"/>
            <a:ext cx="6240825" cy="36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